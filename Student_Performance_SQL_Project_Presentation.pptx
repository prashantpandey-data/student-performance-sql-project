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AA0"/>
                </a:solidFill>
              </a:defRPr>
            </a:pPr>
            <a:r>
              <a:t>SQL DATA ANALYSIS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424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9232D"/>
                </a:solidFill>
              </a:defRPr>
            </a:pPr>
            <a:r>
              <a:t>Student Performance</a:t>
            </a:r>
            <a:br/>
            <a:r>
              <a:t>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06324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F6E7A"/>
                </a:solidFill>
              </a:defRPr>
            </a:pPr>
            <a:r>
              <a:t>MySQL • SQL • Data Analyst Portfolio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0"/>
            <a:ext cx="2331720" cy="1051560"/>
          </a:xfrm>
          <a:prstGeom prst="roundRect">
            <a:avLst/>
          </a:prstGeom>
          <a:solidFill>
            <a:srgbClr val="F4F8FA"/>
          </a:solidFill>
          <a:ln>
            <a:solidFill>
              <a:srgbClr val="CD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47548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AA0"/>
                </a:solidFill>
              </a:defRPr>
            </a:pPr>
            <a: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51206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6E7A"/>
                </a:solidFill>
              </a:defRPr>
            </a:pPr>
            <a:r>
              <a:t>Students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4572000"/>
            <a:ext cx="2331720" cy="1051560"/>
          </a:xfrm>
          <a:prstGeom prst="roundRect">
            <a:avLst/>
          </a:prstGeom>
          <a:solidFill>
            <a:srgbClr val="F4F8FA"/>
          </a:solidFill>
          <a:ln>
            <a:solidFill>
              <a:srgbClr val="CD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47548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AA0"/>
                </a:solidFill>
              </a:defRPr>
            </a:pPr>
            <a: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51206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6E7A"/>
                </a:solidFill>
              </a:defRPr>
            </a:pPr>
            <a:r>
              <a:t>Subjects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4572000"/>
            <a:ext cx="2331720" cy="1051560"/>
          </a:xfrm>
          <a:prstGeom prst="roundRect">
            <a:avLst/>
          </a:prstGeom>
          <a:solidFill>
            <a:srgbClr val="F4F8FA"/>
          </a:solidFill>
          <a:ln>
            <a:solidFill>
              <a:srgbClr val="CD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47548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AA0"/>
                </a:solidFill>
              </a:defRPr>
            </a:pPr>
            <a:r>
              <a:t>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51206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6E7A"/>
                </a:solidFill>
              </a:defRPr>
            </a:pPr>
            <a:r>
              <a:t>Marks Records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4572000"/>
            <a:ext cx="2331720" cy="1051560"/>
          </a:xfrm>
          <a:prstGeom prst="roundRect">
            <a:avLst/>
          </a:prstGeom>
          <a:solidFill>
            <a:srgbClr val="F4F8FA"/>
          </a:solidFill>
          <a:ln>
            <a:solidFill>
              <a:srgbClr val="CD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88552" y="47548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AA0"/>
                </a:solidFill>
              </a:defRPr>
            </a:pPr>
            <a:r>
              <a:t>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8552" y="51206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6E7A"/>
                </a:solidFill>
              </a:defRPr>
            </a:pPr>
            <a:r>
              <a:t>Analyses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E7A"/>
                </a:solidFill>
              </a:defRPr>
            </a:pPr>
            <a:r>
              <a:t>Student Performance Analysis • SQL Data Analyst Project                            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9AA0"/>
                </a:solidFill>
              </a:defRPr>
            </a:pPr>
            <a:r>
              <a:t>01 |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232D"/>
                </a:solidFill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E7A"/>
                </a:solidFill>
              </a:defRPr>
            </a:pPr>
            <a:r>
              <a:t>Student Performance Analysis • SQL Data Analyst Project                            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232D"/>
                </a:solidFill>
              </a:defRPr>
            </a:pPr>
            <a:r>
              <a:t>The project analyzes academic performance using SQL.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5303520" cy="658368"/>
          </a:xfrm>
          <a:prstGeom prst="roundRect">
            <a:avLst/>
          </a:prstGeom>
          <a:solidFill>
            <a:srgbClr val="F4F8FA"/>
          </a:solidFill>
          <a:ln>
            <a:solidFill>
              <a:srgbClr val="CD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984248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AA0"/>
                </a:solidFill>
              </a:defRPr>
            </a:pPr>
            <a:r>
              <a:t>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9842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9232D"/>
                </a:solidFill>
              </a:defRPr>
            </a:pPr>
            <a:r>
              <a:t>Analyze student marks, attendance, subjects and city-wise performance.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15768"/>
            <a:ext cx="5303520" cy="658368"/>
          </a:xfrm>
          <a:prstGeom prst="roundRect">
            <a:avLst/>
          </a:prstGeom>
          <a:solidFill>
            <a:srgbClr val="F4F8FA"/>
          </a:solidFill>
          <a:ln>
            <a:solidFill>
              <a:srgbClr val="CD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825496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AA0"/>
                </a:solidFill>
              </a:defRPr>
            </a:pPr>
            <a:r>
              <a:t>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282549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9232D"/>
                </a:solidFill>
              </a:defRPr>
            </a:pPr>
            <a:r>
              <a:t>student_performance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557015"/>
            <a:ext cx="5303520" cy="658368"/>
          </a:xfrm>
          <a:prstGeom prst="roundRect">
            <a:avLst/>
          </a:prstGeom>
          <a:solidFill>
            <a:srgbClr val="F4F8FA"/>
          </a:solidFill>
          <a:ln>
            <a:solidFill>
              <a:srgbClr val="CD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666744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AA0"/>
                </a:solidFill>
              </a:defRPr>
            </a:pPr>
            <a:r>
              <a:t>Tables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36667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9232D"/>
                </a:solidFill>
              </a:defRPr>
            </a:pPr>
            <a:r>
              <a:t>students • subjects • marks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98264"/>
            <a:ext cx="5303520" cy="658368"/>
          </a:xfrm>
          <a:prstGeom prst="roundRect">
            <a:avLst/>
          </a:prstGeom>
          <a:solidFill>
            <a:srgbClr val="F4F8FA"/>
          </a:solidFill>
          <a:ln>
            <a:solidFill>
              <a:srgbClr val="CD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45079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AA0"/>
                </a:solidFill>
              </a:defRPr>
            </a:pPr>
            <a:r>
              <a:t>Tool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45079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9232D"/>
                </a:solidFill>
              </a:defRPr>
            </a:pPr>
            <a:r>
              <a:t>MySQL / MySQL Workbench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417320"/>
            <a:ext cx="4983480" cy="4160520"/>
          </a:xfrm>
          <a:prstGeom prst="roundRect">
            <a:avLst/>
          </a:prstGeom>
          <a:solidFill>
            <a:srgbClr val="E4F4F4"/>
          </a:solidFill>
          <a:ln>
            <a:solidFill>
              <a:srgbClr val="CD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16916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243A"/>
                </a:solidFill>
              </a:defRPr>
            </a:pPr>
            <a:r>
              <a:t>WHAT WE ANALYZE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21488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9232D"/>
                </a:solidFill>
              </a:defRPr>
            </a:pPr>
            <a:r>
              <a:t>• Student counts and city distribution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254203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9232D"/>
                </a:solidFill>
              </a:defRPr>
            </a:pPr>
            <a:r>
              <a:t>• Subject-wise average and highest marks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2935224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9232D"/>
                </a:solidFill>
              </a:defRPr>
            </a:pPr>
            <a:r>
              <a:t>• Student total / average / min / max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3328416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9232D"/>
                </a:solidFill>
              </a:defRPr>
            </a:pPr>
            <a:r>
              <a:t>• High and low performers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3721608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9232D"/>
                </a:solidFill>
              </a:defRPr>
            </a:pPr>
            <a:r>
              <a:t>• Performance levels using CASE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411480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9232D"/>
                </a:solidFill>
              </a:defRPr>
            </a:pPr>
            <a:r>
              <a:t>• CTEs, subqueries and EXISTS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50799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9232D"/>
                </a:solidFill>
              </a:defRPr>
            </a:pPr>
            <a:r>
              <a:t>• Ranking with RANK()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4901183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9232D"/>
                </a:solidFill>
              </a:defRPr>
            </a:pPr>
            <a:r>
              <a:t>• Previous marks with LAG()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9AA0"/>
                </a:solidFill>
              </a:defRPr>
            </a:pPr>
            <a:r>
              <a:t>02 | 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232D"/>
                </a:solidFill>
              </a:defRPr>
            </a:pPr>
            <a:r>
              <a:t>Three tables form the analytical foundation.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E7A"/>
                </a:solidFill>
              </a:defRPr>
            </a:pPr>
            <a:r>
              <a:t>Student Performance Analysis • SQL Data Analyst Project                                     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2926080" cy="2880360"/>
          </a:xfrm>
          <a:prstGeom prst="roundRect">
            <a:avLst/>
          </a:prstGeom>
          <a:solidFill>
            <a:srgbClr val="F4F8FA"/>
          </a:solidFill>
          <a:ln>
            <a:solidFill>
              <a:srgbClr val="CD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00200"/>
            <a:ext cx="2926080" cy="475488"/>
          </a:xfrm>
          <a:prstGeom prst="rect">
            <a:avLst/>
          </a:prstGeom>
          <a:solidFill>
            <a:srgbClr val="0F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73736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STUDENTS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30428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9232D"/>
                </a:solidFill>
              </a:defRPr>
            </a:pPr>
            <a:r>
              <a:t>🔑 student_id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69748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9232D"/>
                </a:solidFill>
              </a:defRPr>
            </a:pPr>
            <a:r>
              <a:t>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09067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9232D"/>
                </a:solidFill>
              </a:defRPr>
            </a:pPr>
            <a:r>
              <a:t>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348386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9232D"/>
                </a:solidFill>
              </a:defRPr>
            </a:pPr>
            <a:r>
              <a:t>gender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600200"/>
            <a:ext cx="2926080" cy="2880360"/>
          </a:xfrm>
          <a:prstGeom prst="roundRect">
            <a:avLst/>
          </a:prstGeom>
          <a:solidFill>
            <a:srgbClr val="F4F8FA"/>
          </a:solidFill>
          <a:ln>
            <a:solidFill>
              <a:srgbClr val="CD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0520" y="1600200"/>
            <a:ext cx="2926080" cy="475488"/>
          </a:xfrm>
          <a:prstGeom prst="rect">
            <a:avLst/>
          </a:prstGeom>
          <a:solidFill>
            <a:srgbClr val="0F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25112" y="173736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MARKS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230428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9232D"/>
                </a:solidFill>
              </a:defRPr>
            </a:pPr>
            <a:r>
              <a:t>🔑 mark_id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1688" y="269748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9232D"/>
                </a:solidFill>
              </a:defRPr>
            </a:pPr>
            <a:r>
              <a:t>student_id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309067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9232D"/>
                </a:solidFill>
              </a:defRPr>
            </a:pPr>
            <a:r>
              <a:t>subject_id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348386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9232D"/>
                </a:solidFill>
              </a:defRPr>
            </a:pPr>
            <a:r>
              <a:t>marks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1688" y="3877056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9232D"/>
                </a:solidFill>
              </a:defRPr>
            </a:pPr>
            <a:r>
              <a:t>attendance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26679" y="1600200"/>
            <a:ext cx="2926080" cy="2880360"/>
          </a:xfrm>
          <a:prstGeom prst="roundRect">
            <a:avLst/>
          </a:prstGeom>
          <a:solidFill>
            <a:srgbClr val="F4F8FA"/>
          </a:solidFill>
          <a:ln>
            <a:solidFill>
              <a:srgbClr val="CD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26679" y="1600200"/>
            <a:ext cx="2926080" cy="475488"/>
          </a:xfrm>
          <a:prstGeom prst="rect">
            <a:avLst/>
          </a:prstGeom>
          <a:solidFill>
            <a:srgbClr val="0F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91271" y="173736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SUBJECTS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27848" y="230428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9232D"/>
                </a:solidFill>
              </a:defRPr>
            </a:pPr>
            <a:r>
              <a:t>🔑 subject_id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7848" y="269748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9232D"/>
                </a:solidFill>
              </a:defRPr>
            </a:pPr>
            <a:r>
              <a:t>subject_name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520440" y="2926080"/>
            <a:ext cx="640080" cy="0"/>
          </a:xfrm>
          <a:prstGeom prst="line">
            <a:avLst/>
          </a:prstGeom>
          <a:ln w="31750">
            <a:solidFill>
              <a:srgbClr val="009A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086600" y="2926080"/>
            <a:ext cx="640079" cy="0"/>
          </a:xfrm>
          <a:prstGeom prst="line">
            <a:avLst/>
          </a:prstGeom>
          <a:ln w="31750">
            <a:solidFill>
              <a:srgbClr val="009A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05840" y="4892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F6E7A"/>
                </a:solidFill>
              </a:defRPr>
            </a:pPr>
            <a:r>
              <a:t>Key relationships: students.student_id → marks.student_id   |   subjects.subject_id → marks.subject_id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394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9232D"/>
                </a:solidFill>
              </a:defRPr>
            </a:pPr>
            <a:r>
              <a:t>This structure connects student details, subject attributes and performance records for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9AA0"/>
                </a:solidFill>
              </a:defRPr>
            </a:pPr>
            <a:r>
              <a:t>03 | ANALYSIS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232D"/>
                </a:solidFill>
              </a:defRPr>
            </a:pPr>
            <a:r>
              <a:t>From raw tables to business-style insights.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E7A"/>
                </a:solidFill>
              </a:defRPr>
            </a:pPr>
            <a:r>
              <a:t>Student Performance Analysis • SQL Data Analyst Project                                     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965960"/>
            <a:ext cx="20574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D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21488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AA0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6060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9232D"/>
                </a:solidFill>
              </a:defRPr>
            </a:pPr>
            <a:r>
              <a:t>Explore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306324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6E7A"/>
                </a:solidFill>
              </a:defRPr>
            </a:pPr>
            <a:r>
              <a:t>Understand tables &amp; columns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965960"/>
            <a:ext cx="20574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D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07792" y="21488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AA0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7792" y="26060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9232D"/>
                </a:solidFill>
              </a:defRPr>
            </a:pPr>
            <a:r>
              <a:t>Join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07792" y="306324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6E7A"/>
                </a:solidFill>
              </a:defRPr>
            </a:pPr>
            <a:r>
              <a:t>Connect students, marks &amp; subjects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1965960"/>
            <a:ext cx="20574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D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9512" y="21488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AA0"/>
                </a:solidFill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9512" y="26060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9232D"/>
                </a:solidFill>
              </a:defRPr>
            </a:pPr>
            <a:r>
              <a:t>Calculate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9512" y="306324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6E7A"/>
                </a:solidFill>
              </a:defRPr>
            </a:pPr>
            <a:r>
              <a:t>SUM • AVG • MIN • MAX • COUNT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1965960"/>
            <a:ext cx="20574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D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71231" y="21488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AA0"/>
                </a:solidFill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71231" y="26060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9232D"/>
                </a:solidFill>
              </a:defRPr>
            </a:pPr>
            <a:r>
              <a:t>Rank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71231" y="306324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6E7A"/>
                </a:solidFill>
              </a:defRPr>
            </a:pPr>
            <a:r>
              <a:t>Use RANK() and LAG()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38359" y="1965960"/>
            <a:ext cx="20574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D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02951" y="21488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AA0"/>
                </a:solidFill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02951" y="26060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9232D"/>
                </a:solidFill>
              </a:defRPr>
            </a:pPr>
            <a:r>
              <a:t>Interpret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02951" y="306324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6E7A"/>
                </a:solidFill>
              </a:defRPr>
            </a:pPr>
            <a:r>
              <a:t>Turn results into clear insights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617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243A"/>
                </a:solidFill>
              </a:defRPr>
            </a:pPr>
            <a:r>
              <a:t>Techniques used: INNER JOIN • GROUP BY • HAVING • CTE • CASE • RANK() • LAG() • SUM / AVG / COUNT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9AA0"/>
                </a:solidFill>
              </a:defRPr>
            </a:pPr>
            <a:r>
              <a:t>04 |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232D"/>
                </a:solidFill>
              </a:defRPr>
            </a:pPr>
            <a:r>
              <a:t>How many students are in the database?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E7A"/>
                </a:solidFill>
              </a:defRPr>
            </a:pPr>
            <a:r>
              <a:t>Student Performance Analysis • SQL Data Analyst Project                                  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9AA0"/>
                </a:solidFill>
              </a:defRPr>
            </a:pPr>
            <a: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6126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9232D"/>
                </a:solidFill>
              </a:defRPr>
            </a:pPr>
            <a:r>
              <a:t>There are 20 students in the database.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43200"/>
            <a:ext cx="6309360" cy="1508760"/>
          </a:xfrm>
          <a:prstGeom prst="roundRect">
            <a:avLst/>
          </a:prstGeom>
          <a:solidFill>
            <a:srgbClr val="0F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2852928"/>
            <a:ext cx="5980176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onsolas"/>
              </a:defRPr>
            </a:pPr>
            <a:r>
              <a:t>SELECT COUNT(*) AS total_students</a:t>
            </a:r>
            <a:br/>
            <a:r>
              <a:t>FROM students;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1417320"/>
            <a:ext cx="4069080" cy="2834640"/>
          </a:xfrm>
          <a:prstGeom prst="roundRect">
            <a:avLst/>
          </a:prstGeom>
          <a:solidFill>
            <a:srgbClr val="E4F4F4"/>
          </a:solidFill>
          <a:ln>
            <a:solidFill>
              <a:srgbClr val="CD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7373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AA0"/>
                </a:solidFill>
              </a:defRPr>
            </a:pPr>
            <a:r>
              <a:t>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224028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F243A"/>
                </a:solidFill>
              </a:defRPr>
            </a:pPr>
            <a: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30175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F6E7A"/>
                </a:solidFill>
              </a:defRPr>
            </a:pPr>
            <a:r>
              <a:t>students available for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9AA0"/>
                </a:solidFill>
              </a:defRPr>
            </a:pPr>
            <a:r>
              <a:t>05 |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232D"/>
                </a:solidFill>
              </a:defRPr>
            </a:pPr>
            <a:r>
              <a:t>How many subjects and marks records are available?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E7A"/>
                </a:solidFill>
              </a:defRPr>
            </a:pPr>
            <a:r>
              <a:t>Student Performance Analysis • SQL Data Analyst Project                                     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212080" cy="1051560"/>
          </a:xfrm>
          <a:prstGeom prst="roundRect">
            <a:avLst/>
          </a:prstGeom>
          <a:solidFill>
            <a:srgbClr val="E4F4F4"/>
          </a:solidFill>
          <a:ln>
            <a:solidFill>
              <a:srgbClr val="CD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AA0"/>
                </a:solidFill>
              </a:defRPr>
            </a:pPr>
            <a:r>
              <a:t>SUBJECTS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46304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243A"/>
                </a:solidFill>
              </a:defRPr>
            </a:pPr>
            <a: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53619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F6E7A"/>
                </a:solidFill>
              </a:defRPr>
            </a:pPr>
            <a:r>
              <a:t>SQL, Python, Excel, Power BI, Statistics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697480"/>
            <a:ext cx="5212080" cy="1508760"/>
          </a:xfrm>
          <a:prstGeom prst="roundRect">
            <a:avLst/>
          </a:prstGeom>
          <a:solidFill>
            <a:srgbClr val="0F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807208"/>
            <a:ext cx="4882896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onsolas"/>
              </a:defRPr>
            </a:pPr>
            <a:r>
              <a:t>SELECT COUNT(*) AS total_subjects</a:t>
            </a:r>
            <a:br/>
            <a:r>
              <a:t>FROM subjects;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26480" y="1417320"/>
          <a:ext cx="530352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5257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Subject</a:t>
                      </a:r>
                    </a:p>
                  </a:txBody>
                  <a:tcPr>
                    <a:solidFill>
                      <a:srgbClr val="0F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Records</a:t>
                      </a:r>
                    </a:p>
                  </a:txBody>
                  <a:tcPr>
                    <a:solidFill>
                      <a:srgbClr val="0F243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32D"/>
                          </a:solidFill>
                        </a:defRPr>
                      </a:pPr>
                      <a:r>
                        <a:t>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32D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32D"/>
                          </a:solidFill>
                        </a:defRPr>
                      </a:pPr>
                      <a:r>
                        <a:t>Python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32D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32D"/>
                          </a:solidFill>
                        </a:defRPr>
                      </a:pPr>
                      <a:r>
                        <a:t>Excel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32D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32D"/>
                          </a:solidFill>
                        </a:defRPr>
                      </a:pPr>
                      <a:r>
                        <a:t>Power BI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32D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32D"/>
                          </a:solidFill>
                        </a:defRPr>
                      </a:pPr>
                      <a:r>
                        <a:t>Statistics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32D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63640" y="4800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243A"/>
                </a:solidFill>
              </a:defRPr>
            </a:pPr>
            <a:r>
              <a:t>100 marks records = 20 students × 5 subjects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9AA0"/>
                </a:solidFill>
              </a:defRPr>
            </a:pPr>
            <a:r>
              <a:t>06 |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232D"/>
                </a:solidFill>
              </a:defRPr>
            </a:pPr>
            <a:r>
              <a:t>What is the average marks for each subject?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E7A"/>
                </a:solidFill>
              </a:defRPr>
            </a:pPr>
            <a:r>
              <a:t>Student Performance Analysis • SQL Data Analyst Project                                      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17320"/>
          <a:ext cx="54864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5791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Subject</a:t>
                      </a:r>
                    </a:p>
                  </a:txBody>
                  <a:tcPr>
                    <a:solidFill>
                      <a:srgbClr val="0F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Average Marks</a:t>
                      </a:r>
                    </a:p>
                  </a:txBody>
                  <a:tcPr>
                    <a:solidFill>
                      <a:srgbClr val="0F243A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232D"/>
                          </a:solidFill>
                        </a:defRPr>
                      </a:pPr>
                      <a:r>
                        <a:t>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232D"/>
                          </a:solidFill>
                        </a:defRPr>
                      </a:pPr>
                      <a:r>
                        <a:t>82.65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232D"/>
                          </a:solidFill>
                        </a:defRPr>
                      </a:pPr>
                      <a:r>
                        <a:t>Python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232D"/>
                          </a:solidFill>
                        </a:defRPr>
                      </a:pPr>
                      <a:r>
                        <a:t>82.55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232D"/>
                          </a:solidFill>
                        </a:defRPr>
                      </a:pPr>
                      <a:r>
                        <a:t>Excel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232D"/>
                          </a:solidFill>
                        </a:defRPr>
                      </a:pPr>
                      <a:r>
                        <a:t>84.45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232D"/>
                          </a:solidFill>
                        </a:defRPr>
                      </a:pPr>
                      <a:r>
                        <a:t>Power BI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232D"/>
                          </a:solidFill>
                        </a:defRPr>
                      </a:pPr>
                      <a:r>
                        <a:t>82.95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232D"/>
                          </a:solidFill>
                        </a:defRPr>
                      </a:pPr>
                      <a:r>
                        <a:t>Statistics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232D"/>
                          </a:solidFill>
                        </a:defRPr>
                      </a:pPr>
                      <a:r>
                        <a:t>83.9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0" y="1417320"/>
            <a:ext cx="5166360" cy="2011680"/>
          </a:xfrm>
          <a:prstGeom prst="roundRect">
            <a:avLst/>
          </a:prstGeom>
          <a:solidFill>
            <a:srgbClr val="0F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527048"/>
            <a:ext cx="4837176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onsolas"/>
              </a:defRPr>
            </a:pPr>
            <a:r>
              <a:t>SELECT s.subject_name,</a:t>
            </a:r>
            <a:br/>
            <a:r>
              <a:t>       AVG(m.marks) AS average_marks</a:t>
            </a:r>
            <a:br/>
            <a:r>
              <a:t>FROM marks m</a:t>
            </a:r>
            <a:br/>
            <a:r>
              <a:t>JOIN subjects s</a:t>
            </a:r>
            <a:br/>
            <a:r>
              <a:t>  ON m.subject_id = s.subject_id</a:t>
            </a:r>
            <a:br/>
            <a:r>
              <a:t>GROUP BY s.subject_name;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749039"/>
            <a:ext cx="5166360" cy="1325880"/>
          </a:xfrm>
          <a:prstGeom prst="roundRect">
            <a:avLst/>
          </a:prstGeom>
          <a:solidFill>
            <a:srgbClr val="E4F4F4"/>
          </a:solidFill>
          <a:ln>
            <a:solidFill>
              <a:srgbClr val="CD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4005072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AA0"/>
                </a:solidFill>
              </a:defRPr>
            </a:pPr>
            <a:r>
              <a:t>TAKEAWAY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434340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243A"/>
                </a:solidFill>
              </a:defRPr>
            </a:pPr>
            <a:r>
              <a:t>Excel has the highest subject average (84.45).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9AA0"/>
                </a:solidFill>
              </a:defRPr>
            </a:pPr>
            <a:r>
              <a:t>07 |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232D"/>
                </a:solidFill>
              </a:defRPr>
            </a:pPr>
            <a:r>
              <a:t>How many students are there in each city?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E7A"/>
                </a:solidFill>
              </a:defRPr>
            </a:pPr>
            <a:r>
              <a:t>Student Performance Analysis • SQL Data Analyst Project                                      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508760"/>
          <a:ext cx="4572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City</a:t>
                      </a:r>
                    </a:p>
                  </a:txBody>
                  <a:tcPr>
                    <a:solidFill>
                      <a:srgbClr val="0F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Students</a:t>
                      </a:r>
                    </a:p>
                  </a:txBody>
                  <a:tcPr>
                    <a:solidFill>
                      <a:srgbClr val="0F24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232D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232D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232D"/>
                          </a:solidFill>
                        </a:defRPr>
                      </a:pPr>
                      <a:r>
                        <a:t>Lucknow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232D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232D"/>
                          </a:solidFill>
                        </a:defRPr>
                      </a:pPr>
                      <a:r>
                        <a:t>Mumbai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232D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232D"/>
                          </a:solidFill>
                        </a:defRPr>
                      </a:pPr>
                      <a:r>
                        <a:t>Noida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232D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715000" y="1508760"/>
            <a:ext cx="5486400" cy="1508760"/>
          </a:xfrm>
          <a:prstGeom prst="roundRect">
            <a:avLst/>
          </a:prstGeom>
          <a:solidFill>
            <a:srgbClr val="0F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79592" y="1618488"/>
            <a:ext cx="5157216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onsolas"/>
              </a:defRPr>
            </a:pPr>
            <a:r>
              <a:t>SELECT city,</a:t>
            </a:r>
            <a:br/>
            <a:r>
              <a:t>       COUNT(*) AS total_students</a:t>
            </a:r>
            <a:br/>
            <a:r>
              <a:t>FROM students</a:t>
            </a:r>
            <a:br/>
            <a:r>
              <a:t>GROUP BY city;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0" y="3429000"/>
            <a:ext cx="5486400" cy="1325880"/>
          </a:xfrm>
          <a:prstGeom prst="roundRect">
            <a:avLst/>
          </a:prstGeom>
          <a:solidFill>
            <a:srgbClr val="E4F4F4"/>
          </a:solidFill>
          <a:ln>
            <a:solidFill>
              <a:srgbClr val="CD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3675887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AA0"/>
                </a:solidFill>
              </a:defRPr>
            </a:pPr>
            <a:r>
              <a:t>OBSERVATION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40233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243A"/>
                </a:solidFill>
              </a:defRPr>
            </a:pPr>
            <a:r>
              <a:t>Each of the 4 cities has an equal number of students.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9AA0"/>
                </a:solidFill>
              </a:defRPr>
            </a:pPr>
            <a:r>
              <a:t>08 |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232D"/>
                </a:solidFill>
              </a:defRPr>
            </a:pPr>
            <a:r>
              <a:t>What is the average marks of students in each city?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E7A"/>
                </a:solidFill>
              </a:defRPr>
            </a:pPr>
            <a:r>
              <a:t>Student Performance Analysis • SQL Data Analyst Project                                      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417320"/>
          <a:ext cx="47548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</a:tblGrid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City</a:t>
                      </a:r>
                    </a:p>
                  </a:txBody>
                  <a:tcPr>
                    <a:solidFill>
                      <a:srgbClr val="0F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Average Marks</a:t>
                      </a:r>
                    </a:p>
                  </a:txBody>
                  <a:tcPr>
                    <a:solidFill>
                      <a:srgbClr val="0F24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232D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232D"/>
                          </a:solidFill>
                        </a:defRPr>
                      </a:pPr>
                      <a:r>
                        <a:t>83.08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232D"/>
                          </a:solidFill>
                        </a:defRPr>
                      </a:pPr>
                      <a:r>
                        <a:t>Lucknow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232D"/>
                          </a:solidFill>
                        </a:defRPr>
                      </a:pPr>
                      <a:r>
                        <a:t>82.8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232D"/>
                          </a:solidFill>
                        </a:defRPr>
                      </a:pPr>
                      <a:r>
                        <a:t>Mumbai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232D"/>
                          </a:solidFill>
                        </a:defRPr>
                      </a:pPr>
                      <a:r>
                        <a:t>85.08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232D"/>
                          </a:solidFill>
                        </a:defRPr>
                      </a:pPr>
                      <a:r>
                        <a:t>Noida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232D"/>
                          </a:solidFill>
                        </a:defRPr>
                      </a:pPr>
                      <a:r>
                        <a:t>82.24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760720" y="1417320"/>
            <a:ext cx="5486400" cy="1874519"/>
          </a:xfrm>
          <a:prstGeom prst="roundRect">
            <a:avLst/>
          </a:prstGeom>
          <a:solidFill>
            <a:srgbClr val="0F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25312" y="1527048"/>
            <a:ext cx="5157216" cy="165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onsolas"/>
              </a:defRPr>
            </a:pPr>
            <a:r>
              <a:t>SELECT s.city,</a:t>
            </a:r>
            <a:br/>
            <a:r>
              <a:t>       AVG(m.marks) AS average_marks</a:t>
            </a:r>
            <a:br/>
            <a:r>
              <a:t>FROM students s</a:t>
            </a:r>
            <a:br/>
            <a:r>
              <a:t>JOIN marks m</a:t>
            </a:r>
            <a:br/>
            <a:r>
              <a:t>  ON s.student_id = m.student_id</a:t>
            </a:r>
            <a:br/>
            <a:r>
              <a:t>GROUP BY s.city;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3657600"/>
            <a:ext cx="5486400" cy="1143000"/>
          </a:xfrm>
          <a:prstGeom prst="roundRect">
            <a:avLst/>
          </a:prstGeom>
          <a:solidFill>
            <a:srgbClr val="E4F4F4"/>
          </a:solidFill>
          <a:ln>
            <a:solidFill>
              <a:srgbClr val="CD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38862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AA0"/>
                </a:solidFill>
              </a:defRPr>
            </a:pPr>
            <a:r>
              <a:t>TAKEAWAY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422452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243A"/>
                </a:solidFill>
              </a:defRPr>
            </a:pPr>
            <a:r>
              <a:t>Mumbai has the highest city-level average (85.08).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9AA0"/>
                </a:solidFill>
              </a:defRPr>
            </a:pPr>
            <a:r>
              <a:t>09 |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232D"/>
                </a:solidFill>
              </a:defRPr>
            </a:pPr>
            <a:r>
              <a:t>What is the highest mark in each subject?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E7A"/>
                </a:solidFill>
              </a:defRPr>
            </a:pPr>
            <a:r>
              <a:t>Student Performance Analysis • SQL Data Analyst Project                                      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417320"/>
          <a:ext cx="49377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46888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Subject</a:t>
                      </a:r>
                    </a:p>
                  </a:txBody>
                  <a:tcPr>
                    <a:solidFill>
                      <a:srgbClr val="0F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Highest Mark</a:t>
                      </a:r>
                    </a:p>
                  </a:txBody>
                  <a:tcPr>
                    <a:solidFill>
                      <a:srgbClr val="0F24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232D"/>
                          </a:solidFill>
                        </a:defRPr>
                      </a:pPr>
                      <a:r>
                        <a:t>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232D"/>
                          </a:solidFill>
                        </a:defRPr>
                      </a:pPr>
                      <a:r>
                        <a:t>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232D"/>
                          </a:solidFill>
                        </a:defRPr>
                      </a:pPr>
                      <a:r>
                        <a:t>Python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232D"/>
                          </a:solidFill>
                        </a:defRPr>
                      </a:pPr>
                      <a:r>
                        <a:t>92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232D"/>
                          </a:solidFill>
                        </a:defRPr>
                      </a:pPr>
                      <a:r>
                        <a:t>Excel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232D"/>
                          </a:solidFill>
                        </a:defRPr>
                      </a:pPr>
                      <a:r>
                        <a:t>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232D"/>
                          </a:solidFill>
                        </a:defRPr>
                      </a:pPr>
                      <a:r>
                        <a:t>Power BI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232D"/>
                          </a:solidFill>
                        </a:defRPr>
                      </a:pPr>
                      <a:r>
                        <a:t>97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232D"/>
                          </a:solidFill>
                        </a:defRPr>
                      </a:pPr>
                      <a:r>
                        <a:t>Statistics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9232D"/>
                          </a:solidFill>
                        </a:defRPr>
                      </a:pPr>
                      <a:r>
                        <a:t>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989320" y="1417320"/>
            <a:ext cx="5303520" cy="1874519"/>
          </a:xfrm>
          <a:prstGeom prst="roundRect">
            <a:avLst/>
          </a:prstGeom>
          <a:solidFill>
            <a:srgbClr val="0F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53912" y="1527048"/>
            <a:ext cx="4974336" cy="165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onsolas"/>
              </a:defRPr>
            </a:pPr>
            <a:r>
              <a:t>SELECT s.subject_name,</a:t>
            </a:r>
            <a:br/>
            <a:r>
              <a:t>       MAX(m.marks) AS highest_marks</a:t>
            </a:r>
            <a:br/>
            <a:r>
              <a:t>FROM subjects s</a:t>
            </a:r>
            <a:br/>
            <a:r>
              <a:t>JOIN marks m</a:t>
            </a:r>
            <a:br/>
            <a:r>
              <a:t>  ON s.subject_id = m.subject_id</a:t>
            </a:r>
            <a:br/>
            <a:r>
              <a:t>GROUP BY s.subject_name;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3657600"/>
            <a:ext cx="5303520" cy="1234440"/>
          </a:xfrm>
          <a:prstGeom prst="roundRect">
            <a:avLst/>
          </a:prstGeom>
          <a:solidFill>
            <a:srgbClr val="E4F4F4"/>
          </a:solidFill>
          <a:ln>
            <a:solidFill>
              <a:srgbClr val="CD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3904487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AA0"/>
                </a:solidFill>
              </a:defRPr>
            </a:pPr>
            <a:r>
              <a:t>HIGHEST OBSERVED 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23367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243A"/>
                </a:solidFill>
              </a:defRPr>
            </a:pPr>
            <a:r>
              <a:t>Power BI → 97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9AA0"/>
                </a:solidFill>
              </a:defRPr>
            </a:pPr>
            <a:r>
              <a:t>10 |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232D"/>
                </a:solidFill>
              </a:defRPr>
            </a:pPr>
            <a:r>
              <a:t>What are the total marks of each student?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E7A"/>
                </a:solidFill>
              </a:defRPr>
            </a:pPr>
            <a:r>
              <a:t>Student Performance Analysis • SQL Data Analyst Project                                      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25880"/>
          <a:ext cx="60350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1508760"/>
                <a:gridCol w="1508760"/>
                <a:gridCol w="1508760"/>
              </a:tblGrid>
              <a:tr h="407323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F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Student</a:t>
                      </a:r>
                    </a:p>
                  </a:txBody>
                  <a:tcPr>
                    <a:solidFill>
                      <a:srgbClr val="0F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City</a:t>
                      </a:r>
                    </a:p>
                  </a:txBody>
                  <a:tcPr>
                    <a:solidFill>
                      <a:srgbClr val="0F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0F243A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Pooja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Mumbai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468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Priya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466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Arjun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Noida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458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Pintu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Noida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454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Riya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Mumbai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452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Anjali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Lucknow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444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Kavya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Lucknow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438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Muskan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Lucknow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436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Aman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424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33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Mohit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422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812280" y="1325880"/>
            <a:ext cx="4709160" cy="2057400"/>
          </a:xfrm>
          <a:prstGeom prst="roundRect">
            <a:avLst/>
          </a:prstGeom>
          <a:solidFill>
            <a:srgbClr val="0F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76872" y="1435607"/>
            <a:ext cx="4379976" cy="1837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onsolas"/>
              </a:defRPr>
            </a:pPr>
            <a:r>
              <a:t>SELECT s.name,</a:t>
            </a:r>
            <a:br/>
            <a:r>
              <a:t>       SUM(m.marks) AS total_marks</a:t>
            </a:r>
            <a:br/>
            <a:r>
              <a:t>FROM students s</a:t>
            </a:r>
            <a:br/>
            <a:r>
              <a:t>JOIN marks m</a:t>
            </a:r>
            <a:br/>
            <a:r>
              <a:t>  ON s.student_id = m.student_id</a:t>
            </a:r>
            <a:br/>
            <a:r>
              <a:t>GROUP BY s.name</a:t>
            </a:r>
            <a:br/>
            <a:r>
              <a:t>ORDER BY total_marks DESC;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12280" y="3703320"/>
            <a:ext cx="4709160" cy="1234440"/>
          </a:xfrm>
          <a:prstGeom prst="roundRect">
            <a:avLst/>
          </a:prstGeom>
          <a:solidFill>
            <a:srgbClr val="E4F4F4"/>
          </a:solidFill>
          <a:ln>
            <a:solidFill>
              <a:srgbClr val="CD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3931920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AA0"/>
                </a:solidFill>
              </a:defRPr>
            </a:pPr>
            <a:r>
              <a:t>TAKEAWAY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427939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243A"/>
                </a:solidFill>
              </a:defRPr>
            </a:pPr>
            <a:r>
              <a:t>Pooja has the highest total: 468.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9AA0"/>
                </a:solidFill>
              </a:defRPr>
            </a:pPr>
            <a:r>
              <a:t>11 |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232D"/>
                </a:solidFill>
              </a:defRPr>
            </a:pPr>
            <a:r>
              <a:t>Which students have an average marks greater than 80?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E7A"/>
                </a:solidFill>
              </a:defRPr>
            </a:pPr>
            <a:r>
              <a:t>Student Performance Analysis • SQL Data Analyst Project                                      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25880"/>
          <a:ext cx="52120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/>
                <a:gridCol w="2606040"/>
              </a:tblGrid>
              <a:tr h="28651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Student</a:t>
                      </a:r>
                    </a:p>
                  </a:txBody>
                  <a:tcPr>
                    <a:solidFill>
                      <a:srgbClr val="0F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Average</a:t>
                      </a:r>
                    </a:p>
                  </a:txBody>
                  <a:tcPr>
                    <a:solidFill>
                      <a:srgbClr val="0F243A"/>
                    </a:solidFill>
                  </a:tcPr>
                </a:tc>
              </a:tr>
              <a:tr h="28651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Pooja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93.6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651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Priya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93.2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  <a:tr h="28651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Arjun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91.6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651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Pintu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90.8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  <a:tr h="28651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Riya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90.4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651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Anjali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88.8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  <a:tr h="28651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Kavya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87.6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651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Muskan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87.2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  <a:tr h="28651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Aman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84.8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651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Mohit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84.4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  <a:tr h="28651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Sneha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84.2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651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Neha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82.8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  <a:tr h="28651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Nikhil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81.8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651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Simran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80.8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172200" y="1325880"/>
            <a:ext cx="5120640" cy="1874519"/>
          </a:xfrm>
          <a:prstGeom prst="roundRect">
            <a:avLst/>
          </a:prstGeom>
          <a:solidFill>
            <a:srgbClr val="0F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36792" y="1435607"/>
            <a:ext cx="4791455" cy="165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onsolas"/>
              </a:defRPr>
            </a:pPr>
            <a:r>
              <a:t>SELECT s.name,</a:t>
            </a:r>
            <a:br/>
            <a:r>
              <a:t>       AVG(m.marks) AS average_marks</a:t>
            </a:r>
            <a:br/>
            <a:r>
              <a:t>FROM students s</a:t>
            </a:r>
            <a:br/>
            <a:r>
              <a:t>JOIN marks m</a:t>
            </a:r>
            <a:br/>
            <a:r>
              <a:t>  ON s.student_id = m.student_id</a:t>
            </a:r>
            <a:br/>
            <a:r>
              <a:t>GROUP BY s.name</a:t>
            </a:r>
            <a:br/>
            <a:r>
              <a:t>HAVING AVG(m.marks) &gt; 80;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657600"/>
            <a:ext cx="5120640" cy="1143000"/>
          </a:xfrm>
          <a:prstGeom prst="roundRect">
            <a:avLst/>
          </a:prstGeom>
          <a:solidFill>
            <a:srgbClr val="E4F4F4"/>
          </a:solidFill>
          <a:ln>
            <a:solidFill>
              <a:srgbClr val="CD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904487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AA0"/>
                </a:solidFill>
              </a:defRPr>
            </a:pPr>
            <a:r>
              <a:t>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22452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243A"/>
                </a:solidFill>
              </a:defRPr>
            </a:pPr>
            <a:r>
              <a:t>14 students meet the &gt;80 average condition.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9AA0"/>
                </a:solidFill>
              </a:defRPr>
            </a:pPr>
            <a:r>
              <a:t>12 |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232D"/>
                </a:solidFill>
              </a:defRPr>
            </a:pPr>
            <a:r>
              <a:t>Which students have total marks greater than 400?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E7A"/>
                </a:solidFill>
              </a:defRPr>
            </a:pPr>
            <a:r>
              <a:t>Student Performance Analysis • SQL Data Analyst Project                                      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325880"/>
          <a:ext cx="49377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468880"/>
              </a:tblGrid>
              <a:tr h="28041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Student</a:t>
                      </a:r>
                    </a:p>
                  </a:txBody>
                  <a:tcPr>
                    <a:solidFill>
                      <a:srgbClr val="0F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Total Marks</a:t>
                      </a:r>
                    </a:p>
                  </a:txBody>
                  <a:tcPr>
                    <a:solidFill>
                      <a:srgbClr val="0F243A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32D"/>
                          </a:solidFill>
                        </a:defRPr>
                      </a:pPr>
                      <a:r>
                        <a:t>Pooja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32D"/>
                          </a:solidFill>
                        </a:defRPr>
                      </a:pPr>
                      <a:r>
                        <a:t>468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32D"/>
                          </a:solidFill>
                        </a:defRPr>
                      </a:pPr>
                      <a:r>
                        <a:t>Priya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32D"/>
                          </a:solidFill>
                        </a:defRPr>
                      </a:pPr>
                      <a:r>
                        <a:t>466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32D"/>
                          </a:solidFill>
                        </a:defRPr>
                      </a:pPr>
                      <a:r>
                        <a:t>Arjun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32D"/>
                          </a:solidFill>
                        </a:defRPr>
                      </a:pPr>
                      <a:r>
                        <a:t>458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32D"/>
                          </a:solidFill>
                        </a:defRPr>
                      </a:pPr>
                      <a:r>
                        <a:t>Pintu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32D"/>
                          </a:solidFill>
                        </a:defRPr>
                      </a:pPr>
                      <a:r>
                        <a:t>454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32D"/>
                          </a:solidFill>
                        </a:defRPr>
                      </a:pPr>
                      <a:r>
                        <a:t>Riya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32D"/>
                          </a:solidFill>
                        </a:defRPr>
                      </a:pPr>
                      <a:r>
                        <a:t>452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32D"/>
                          </a:solidFill>
                        </a:defRPr>
                      </a:pPr>
                      <a:r>
                        <a:t>Anjali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32D"/>
                          </a:solidFill>
                        </a:defRPr>
                      </a:pPr>
                      <a:r>
                        <a:t>444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32D"/>
                          </a:solidFill>
                        </a:defRPr>
                      </a:pPr>
                      <a:r>
                        <a:t>Kavya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32D"/>
                          </a:solidFill>
                        </a:defRPr>
                      </a:pPr>
                      <a:r>
                        <a:t>438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32D"/>
                          </a:solidFill>
                        </a:defRPr>
                      </a:pPr>
                      <a:r>
                        <a:t>Muskan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32D"/>
                          </a:solidFill>
                        </a:defRPr>
                      </a:pPr>
                      <a:r>
                        <a:t>436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32D"/>
                          </a:solidFill>
                        </a:defRPr>
                      </a:pPr>
                      <a:r>
                        <a:t>Aman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32D"/>
                          </a:solidFill>
                        </a:defRPr>
                      </a:pPr>
                      <a:r>
                        <a:t>424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32D"/>
                          </a:solidFill>
                        </a:defRPr>
                      </a:pPr>
                      <a:r>
                        <a:t>Mohit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32D"/>
                          </a:solidFill>
                        </a:defRPr>
                      </a:pPr>
                      <a:r>
                        <a:t>422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32D"/>
                          </a:solidFill>
                        </a:defRPr>
                      </a:pPr>
                      <a:r>
                        <a:t>Sneha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32D"/>
                          </a:solidFill>
                        </a:defRPr>
                      </a:pPr>
                      <a:r>
                        <a:t>421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32D"/>
                          </a:solidFill>
                        </a:defRPr>
                      </a:pPr>
                      <a:r>
                        <a:t>Neha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32D"/>
                          </a:solidFill>
                        </a:defRPr>
                      </a:pPr>
                      <a:r>
                        <a:t>414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32D"/>
                          </a:solidFill>
                        </a:defRPr>
                      </a:pPr>
                      <a:r>
                        <a:t>Nikhil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32D"/>
                          </a:solidFill>
                        </a:defRPr>
                      </a:pPr>
                      <a:r>
                        <a:t>409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32D"/>
                          </a:solidFill>
                        </a:defRPr>
                      </a:pPr>
                      <a:r>
                        <a:t>Simran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32D"/>
                          </a:solidFill>
                        </a:defRPr>
                      </a:pPr>
                      <a:r>
                        <a:t>404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989320" y="1325880"/>
            <a:ext cx="5212080" cy="1920240"/>
          </a:xfrm>
          <a:prstGeom prst="roundRect">
            <a:avLst/>
          </a:prstGeom>
          <a:solidFill>
            <a:srgbClr val="0F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53912" y="1435607"/>
            <a:ext cx="4882896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onsolas"/>
              </a:defRPr>
            </a:pPr>
            <a:r>
              <a:t>SELECT s.name,</a:t>
            </a:r>
            <a:br/>
            <a:r>
              <a:t>       SUM(m.marks) AS total_marks</a:t>
            </a:r>
            <a:br/>
            <a:r>
              <a:t>FROM students s</a:t>
            </a:r>
            <a:br/>
            <a:r>
              <a:t>JOIN marks m</a:t>
            </a:r>
            <a:br/>
            <a:r>
              <a:t>  ON s.student_id = m.student_id</a:t>
            </a:r>
            <a:br/>
            <a:r>
              <a:t>GROUP BY s.name</a:t>
            </a:r>
            <a:br/>
            <a:r>
              <a:t>HAVING SUM(m.marks) &gt; 400;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36576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243A"/>
                </a:solidFill>
              </a:defRPr>
            </a:pPr>
            <a:r>
              <a:t>HAVING filters grouped results after SUM().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42519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AA0"/>
                </a:solidFill>
              </a:defRPr>
            </a:pPr>
            <a:r>
              <a:t>Result count: 14 students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9AA0"/>
                </a:solidFill>
              </a:defRPr>
            </a:pPr>
            <a:r>
              <a:t>13 |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232D"/>
                </a:solidFill>
              </a:defRPr>
            </a:pPr>
            <a:r>
              <a:t>Assign a performance level using CASE.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E7A"/>
                </a:solidFill>
              </a:defRPr>
            </a:pPr>
            <a:r>
              <a:t>Student Performance Analysis • SQL Data Analyst Project                                      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325880"/>
          <a:ext cx="55778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</a:tblGrid>
              <a:tr h="39069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Student</a:t>
                      </a:r>
                    </a:p>
                  </a:txBody>
                  <a:tcPr>
                    <a:solidFill>
                      <a:srgbClr val="0F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Average</a:t>
                      </a:r>
                    </a:p>
                  </a:txBody>
                  <a:tcPr>
                    <a:solidFill>
                      <a:srgbClr val="0F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Performance</a:t>
                      </a:r>
                    </a:p>
                  </a:txBody>
                  <a:tcPr>
                    <a:solidFill>
                      <a:srgbClr val="0F243A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Pooja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93.6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Priya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93.2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Arjun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91.6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Pintu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90.8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Riya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90.4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Anjali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88.8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Kavya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87.6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Muskan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87.2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Aman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84.8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Good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07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Mohit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84.4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Good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0" y="1325880"/>
            <a:ext cx="5074920" cy="2423160"/>
          </a:xfrm>
          <a:prstGeom prst="roundRect">
            <a:avLst/>
          </a:prstGeom>
          <a:solidFill>
            <a:srgbClr val="0F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435607"/>
            <a:ext cx="4745736" cy="2203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onsolas"/>
              </a:defRPr>
            </a:pPr>
            <a:r>
              <a:t>CASE</a:t>
            </a:r>
            <a:br/>
            <a:r>
              <a:t>  WHEN AVG(m.marks) &gt;= 85</a:t>
            </a:r>
            <a:br/>
            <a:r>
              <a:t>    THEN 'Excellent'</a:t>
            </a:r>
            <a:br/>
            <a:r>
              <a:t>  WHEN AVG(m.marks) &gt;= 70</a:t>
            </a:r>
            <a:br/>
            <a:r>
              <a:t>    THEN 'Good'</a:t>
            </a:r>
            <a:br/>
            <a:r>
              <a:t>  ELSE 'Needs Improvement'</a:t>
            </a:r>
            <a:br/>
            <a:r>
              <a:t>END AS performance_level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069080"/>
            <a:ext cx="5074920" cy="1097280"/>
          </a:xfrm>
          <a:prstGeom prst="roundRect">
            <a:avLst/>
          </a:prstGeom>
          <a:solidFill>
            <a:srgbClr val="E4F4F4"/>
          </a:solidFill>
          <a:ln>
            <a:solidFill>
              <a:srgbClr val="CD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43159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AA0"/>
                </a:solidFill>
              </a:defRPr>
            </a:pPr>
            <a:r>
              <a:t>LOGIC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46451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243A"/>
                </a:solidFill>
              </a:defRPr>
            </a:pPr>
            <a:r>
              <a:t>Business-style labels created directly in SQL.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9AA0"/>
                </a:solidFill>
              </a:defRPr>
            </a:pPr>
            <a:r>
              <a:t>14 |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232D"/>
                </a:solidFill>
              </a:defRPr>
            </a:pPr>
            <a:r>
              <a:t>CTE: city-wise student performance summary.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E7A"/>
                </a:solidFill>
              </a:defRPr>
            </a:pPr>
            <a:r>
              <a:t>Student Performance Analysis • SQL Data Analyst Project                                      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51206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80"/>
                <a:gridCol w="1706880"/>
                <a:gridCol w="1706880"/>
              </a:tblGrid>
              <a:tr h="56692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City</a:t>
                      </a:r>
                    </a:p>
                  </a:txBody>
                  <a:tcPr>
                    <a:solidFill>
                      <a:srgbClr val="0F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Total Students</a:t>
                      </a:r>
                    </a:p>
                  </a:txBody>
                  <a:tcPr>
                    <a:solidFill>
                      <a:srgbClr val="0F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Avg &gt; 80</a:t>
                      </a:r>
                    </a:p>
                  </a:txBody>
                  <a:tcPr>
                    <a:solidFill>
                      <a:srgbClr val="0F24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32D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32D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32D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32D"/>
                          </a:solidFill>
                        </a:defRPr>
                      </a:pPr>
                      <a:r>
                        <a:t>Lucknow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32D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32D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32D"/>
                          </a:solidFill>
                        </a:defRPr>
                      </a:pPr>
                      <a:r>
                        <a:t>Mumbai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32D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32D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32D"/>
                          </a:solidFill>
                        </a:defRPr>
                      </a:pPr>
                      <a:r>
                        <a:t>Noida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32D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9232D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080760" y="1371600"/>
            <a:ext cx="5212080" cy="2926080"/>
          </a:xfrm>
          <a:prstGeom prst="roundRect">
            <a:avLst/>
          </a:prstGeom>
          <a:solidFill>
            <a:srgbClr val="0F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45352" y="1481328"/>
            <a:ext cx="4882896" cy="2706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onsolas"/>
              </a:defRPr>
            </a:pPr>
            <a:r>
              <a:t>WITH student_average AS (</a:t>
            </a:r>
            <a:br/>
            <a:r>
              <a:t>  SELECT s.student_id, s.name, s.city,</a:t>
            </a:r>
            <a:br/>
            <a:r>
              <a:t>         AVG(m.marks) AS average_marks</a:t>
            </a:r>
            <a:br/>
            <a:r>
              <a:t>  FROM students s</a:t>
            </a:r>
            <a:br/>
            <a:r>
              <a:t>  JOIN marks m</a:t>
            </a:r>
            <a:br/>
            <a:r>
              <a:t>    ON s.student_id = m.student_id</a:t>
            </a:r>
            <a:br/>
            <a:r>
              <a:t>  GROUP BY s.student_id, s.name, s.city</a:t>
            </a:r>
            <a:br/>
            <a:r>
              <a:t>)</a:t>
            </a:r>
            <a:br/>
            <a:r>
              <a:t>SELECT city, COUNT(*) AS total_students,</a:t>
            </a:r>
            <a:br/>
            <a:r>
              <a:t>       SUM(CASE WHEN average_marks &gt; 80</a:t>
            </a:r>
            <a:br/>
            <a:r>
              <a:t>           THEN 1 ELSE 0 END) AS students_above_80</a:t>
            </a:r>
            <a:br/>
            <a:r>
              <a:t>FROM student_average</a:t>
            </a:r>
            <a:br/>
            <a:r>
              <a:t>GROUP BY city;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9AA0"/>
                </a:solidFill>
              </a:defRPr>
            </a:pPr>
            <a:r>
              <a:t>15 |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232D"/>
                </a:solidFill>
              </a:defRPr>
            </a:pPr>
            <a:r>
              <a:t>Rank students by total marks using RANK().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E7A"/>
                </a:solidFill>
              </a:defRPr>
            </a:pPr>
            <a:r>
              <a:t>Student Performance Analysis • SQL Data Analyst Project                                      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25880"/>
          <a:ext cx="53035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39069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0F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Student</a:t>
                      </a:r>
                    </a:p>
                  </a:txBody>
                  <a:tcPr>
                    <a:solidFill>
                      <a:srgbClr val="0F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Total Marks</a:t>
                      </a:r>
                    </a:p>
                  </a:txBody>
                  <a:tcPr>
                    <a:solidFill>
                      <a:srgbClr val="0F243A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Pooja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468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Priya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466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Arjun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458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Pintu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454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Riya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452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Anjali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444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Kavya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438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Muskan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436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Aman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424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07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Mohit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422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217920" y="1325880"/>
            <a:ext cx="5029200" cy="1965960"/>
          </a:xfrm>
          <a:prstGeom prst="roundRect">
            <a:avLst/>
          </a:prstGeom>
          <a:solidFill>
            <a:srgbClr val="0F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435607"/>
            <a:ext cx="4700016" cy="1746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onsolas"/>
              </a:defRPr>
            </a:pPr>
            <a:r>
              <a:t>SELECT s.name,</a:t>
            </a:r>
            <a:br/>
            <a:r>
              <a:t>       SUM(m.marks) AS total_marks,</a:t>
            </a:r>
            <a:br/>
            <a:r>
              <a:t>       RANK() OVER (</a:t>
            </a:r>
            <a:br/>
            <a:r>
              <a:t>         ORDER BY SUM(m.marks) DESC</a:t>
            </a:r>
            <a:br/>
            <a:r>
              <a:t>       ) AS total_rank</a:t>
            </a:r>
            <a:br/>
            <a:r>
              <a:t>FROM students s</a:t>
            </a:r>
            <a:br/>
            <a:r>
              <a:t>JOIN marks m</a:t>
            </a:r>
            <a:br/>
            <a:r>
              <a:t>  ON s.student_id = m.student_id</a:t>
            </a:r>
            <a:br/>
            <a:r>
              <a:t>GROUP BY s.name;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7033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F6E7A"/>
                </a:solidFill>
              </a:defRPr>
            </a:pPr>
            <a:r>
              <a:t>RANK() assigns the same rank when totals are tied and leaves gaps after ties.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9AA0"/>
                </a:solidFill>
              </a:defRPr>
            </a:pPr>
            <a:r>
              <a:t>16 |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232D"/>
                </a:solidFill>
              </a:defRPr>
            </a:pPr>
            <a:r>
              <a:t>Use LAG() to compare with the previous subject.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E7A"/>
                </a:solidFill>
              </a:defRPr>
            </a:pPr>
            <a:r>
              <a:t>Student Performance Analysis • SQL Data Analyst Project                                      17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325880"/>
          <a:ext cx="54864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4724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Student</a:t>
                      </a:r>
                    </a:p>
                  </a:txBody>
                  <a:tcPr>
                    <a:solidFill>
                      <a:srgbClr val="0F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Subject</a:t>
                      </a:r>
                    </a:p>
                  </a:txBody>
                  <a:tcPr>
                    <a:solidFill>
                      <a:srgbClr val="0F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Marks</a:t>
                      </a:r>
                    </a:p>
                  </a:txBody>
                  <a:tcPr>
                    <a:solidFill>
                      <a:srgbClr val="0F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Previous</a:t>
                      </a:r>
                    </a:p>
                  </a:txBody>
                  <a:tcPr>
                    <a:solidFill>
                      <a:srgbClr val="0F243A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Pintu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Pintu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Python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88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91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Pintu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Excel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Pintu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Power BI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94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Pintu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Statistics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9232D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0" y="1325880"/>
            <a:ext cx="5029200" cy="2148840"/>
          </a:xfrm>
          <a:prstGeom prst="roundRect">
            <a:avLst/>
          </a:prstGeom>
          <a:solidFill>
            <a:srgbClr val="0F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435607"/>
            <a:ext cx="4700016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onsolas"/>
              </a:defRPr>
            </a:pPr>
            <a:r>
              <a:t>SELECT s.name,</a:t>
            </a:r>
            <a:br/>
            <a:r>
              <a:t>       m.subject_id,</a:t>
            </a:r>
            <a:br/>
            <a:r>
              <a:t>       m.marks,</a:t>
            </a:r>
            <a:br/>
            <a:r>
              <a:t>       LAG(m.marks) OVER (</a:t>
            </a:r>
            <a:br/>
            <a:r>
              <a:t>         PARTITION BY s.student_id</a:t>
            </a:r>
            <a:br/>
            <a:r>
              <a:t>         ORDER BY m.subject_id</a:t>
            </a:r>
            <a:br/>
            <a:r>
              <a:t>       ) AS previous_marks</a:t>
            </a:r>
            <a:br/>
            <a:r>
              <a:t>FROM students s</a:t>
            </a:r>
            <a:br/>
            <a:r>
              <a:t>JOIN marks m</a:t>
            </a:r>
            <a:br/>
            <a:r>
              <a:t>  ON s.student_id = m.student_id;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840480"/>
            <a:ext cx="5029200" cy="1143000"/>
          </a:xfrm>
          <a:prstGeom prst="roundRect">
            <a:avLst/>
          </a:prstGeom>
          <a:solidFill>
            <a:srgbClr val="E4F4F4"/>
          </a:solidFill>
          <a:ln>
            <a:solidFill>
              <a:srgbClr val="CD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40873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AA0"/>
                </a:solidFill>
              </a:defRPr>
            </a:pPr>
            <a:r>
              <a:t>USE 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44074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243A"/>
                </a:solidFill>
              </a:defRPr>
            </a:pPr>
            <a:r>
              <a:t>Compare sequential subject performance without a self-join.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9AA0"/>
                </a:solidFill>
              </a:defRPr>
            </a:pPr>
            <a:r>
              <a:t>17 | FINAL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232D"/>
                </a:solidFill>
              </a:defRPr>
            </a:pPr>
            <a:r>
              <a:t>Complete student performance report.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E7A"/>
                </a:solidFill>
              </a:defRPr>
            </a:pPr>
            <a:r>
              <a:t>Student Performance Analysis • SQL Data Analyst Project                                      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234440"/>
          <a:ext cx="6949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8240"/>
                <a:gridCol w="1158240"/>
                <a:gridCol w="1158240"/>
                <a:gridCol w="1158240"/>
                <a:gridCol w="1158240"/>
                <a:gridCol w="1158240"/>
              </a:tblGrid>
              <a:tr h="4876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Student</a:t>
                      </a:r>
                    </a:p>
                  </a:txBody>
                  <a:tcPr>
                    <a:solidFill>
                      <a:srgbClr val="0F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City</a:t>
                      </a:r>
                    </a:p>
                  </a:txBody>
                  <a:tcPr>
                    <a:solidFill>
                      <a:srgbClr val="0F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0F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Avg</a:t>
                      </a:r>
                    </a:p>
                  </a:txBody>
                  <a:tcPr>
                    <a:solidFill>
                      <a:srgbClr val="0F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Max</a:t>
                      </a:r>
                    </a:p>
                  </a:txBody>
                  <a:tcPr>
                    <a:solidFill>
                      <a:srgbClr val="0F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Level</a:t>
                      </a:r>
                    </a:p>
                  </a:txBody>
                  <a:tcPr>
                    <a:solidFill>
                      <a:srgbClr val="0F243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232D"/>
                          </a:solidFill>
                        </a:defRPr>
                      </a:pPr>
                      <a:r>
                        <a:t>Pooja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232D"/>
                          </a:solidFill>
                        </a:defRPr>
                      </a:pPr>
                      <a:r>
                        <a:t>Mumbai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232D"/>
                          </a:solidFill>
                        </a:defRPr>
                      </a:pPr>
                      <a:r>
                        <a:t>468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232D"/>
                          </a:solidFill>
                        </a:defRPr>
                      </a:pPr>
                      <a:r>
                        <a:t>93.6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232D"/>
                          </a:solidFill>
                        </a:defRPr>
                      </a:pPr>
                      <a:r>
                        <a:t>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232D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232D"/>
                          </a:solidFill>
                        </a:defRPr>
                      </a:pPr>
                      <a:r>
                        <a:t>Priya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232D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232D"/>
                          </a:solidFill>
                        </a:defRPr>
                      </a:pPr>
                      <a:r>
                        <a:t>466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232D"/>
                          </a:solidFill>
                        </a:defRPr>
                      </a:pPr>
                      <a:r>
                        <a:t>93.2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232D"/>
                          </a:solidFill>
                        </a:defRPr>
                      </a:pPr>
                      <a:r>
                        <a:t>97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232D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232D"/>
                          </a:solidFill>
                        </a:defRPr>
                      </a:pPr>
                      <a:r>
                        <a:t>Arjun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232D"/>
                          </a:solidFill>
                        </a:defRPr>
                      </a:pPr>
                      <a:r>
                        <a:t>Noida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232D"/>
                          </a:solidFill>
                        </a:defRPr>
                      </a:pPr>
                      <a:r>
                        <a:t>458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232D"/>
                          </a:solidFill>
                        </a:defRPr>
                      </a:pPr>
                      <a:r>
                        <a:t>91.6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232D"/>
                          </a:solidFill>
                        </a:defRPr>
                      </a:pPr>
                      <a:r>
                        <a:t>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232D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232D"/>
                          </a:solidFill>
                        </a:defRPr>
                      </a:pPr>
                      <a:r>
                        <a:t>Pintu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232D"/>
                          </a:solidFill>
                        </a:defRPr>
                      </a:pPr>
                      <a:r>
                        <a:t>Noida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232D"/>
                          </a:solidFill>
                        </a:defRPr>
                      </a:pPr>
                      <a:r>
                        <a:t>454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232D"/>
                          </a:solidFill>
                        </a:defRPr>
                      </a:pPr>
                      <a:r>
                        <a:t>90.8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232D"/>
                          </a:solidFill>
                        </a:defRPr>
                      </a:pPr>
                      <a:r>
                        <a:t>94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232D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232D"/>
                          </a:solidFill>
                        </a:defRPr>
                      </a:pPr>
                      <a:r>
                        <a:t>Riya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232D"/>
                          </a:solidFill>
                        </a:defRPr>
                      </a:pPr>
                      <a:r>
                        <a:t>Mumbai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232D"/>
                          </a:solidFill>
                        </a:defRPr>
                      </a:pPr>
                      <a:r>
                        <a:t>452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232D"/>
                          </a:solidFill>
                        </a:defRPr>
                      </a:pPr>
                      <a:r>
                        <a:t>90.4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232D"/>
                          </a:solidFill>
                        </a:defRPr>
                      </a:pPr>
                      <a:r>
                        <a:t>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232D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232D"/>
                          </a:solidFill>
                        </a:defRPr>
                      </a:pPr>
                      <a:r>
                        <a:t>Anjali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232D"/>
                          </a:solidFill>
                        </a:defRPr>
                      </a:pPr>
                      <a:r>
                        <a:t>Lucknow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232D"/>
                          </a:solidFill>
                        </a:defRPr>
                      </a:pPr>
                      <a:r>
                        <a:t>444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232D"/>
                          </a:solidFill>
                        </a:defRPr>
                      </a:pPr>
                      <a:r>
                        <a:t>88.8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232D"/>
                          </a:solidFill>
                        </a:defRPr>
                      </a:pPr>
                      <a:r>
                        <a:t>92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232D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232D"/>
                          </a:solidFill>
                        </a:defRPr>
                      </a:pPr>
                      <a:r>
                        <a:t>Kavya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232D"/>
                          </a:solidFill>
                        </a:defRPr>
                      </a:pPr>
                      <a:r>
                        <a:t>Lucknow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232D"/>
                          </a:solidFill>
                        </a:defRPr>
                      </a:pPr>
                      <a:r>
                        <a:t>438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232D"/>
                          </a:solidFill>
                        </a:defRPr>
                      </a:pPr>
                      <a:r>
                        <a:t>87.6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232D"/>
                          </a:solidFill>
                        </a:defRPr>
                      </a:pPr>
                      <a:r>
                        <a:t>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232D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232D"/>
                          </a:solidFill>
                        </a:defRPr>
                      </a:pPr>
                      <a:r>
                        <a:t>Muskan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232D"/>
                          </a:solidFill>
                        </a:defRPr>
                      </a:pPr>
                      <a:r>
                        <a:t>Lucknow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232D"/>
                          </a:solidFill>
                        </a:defRPr>
                      </a:pPr>
                      <a:r>
                        <a:t>436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232D"/>
                          </a:solidFill>
                        </a:defRPr>
                      </a:pPr>
                      <a:r>
                        <a:t>87.2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232D"/>
                          </a:solidFill>
                        </a:defRPr>
                      </a:pPr>
                      <a:r>
                        <a:t>90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9232D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635240" y="1234440"/>
            <a:ext cx="4069080" cy="2743200"/>
          </a:xfrm>
          <a:prstGeom prst="roundRect">
            <a:avLst/>
          </a:prstGeom>
          <a:solidFill>
            <a:srgbClr val="0F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99831" y="1344168"/>
            <a:ext cx="3739896" cy="2523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onsolas"/>
              </a:defRPr>
            </a:pPr>
            <a:r>
              <a:t>WITH student_performance AS (</a:t>
            </a:r>
            <a:br/>
            <a:r>
              <a:t>  SELECT s.name, s.city,</a:t>
            </a:r>
            <a:br/>
            <a:r>
              <a:t>         SUM(m.marks) total_marks,</a:t>
            </a:r>
            <a:br/>
            <a:r>
              <a:t>         AVG(m.marks) average_marks,</a:t>
            </a:r>
            <a:br/>
            <a:r>
              <a:t>         MAX(m.marks) highest_marks,</a:t>
            </a:r>
            <a:br/>
            <a:r>
              <a:t>         MIN(m.marks) lowest_marks</a:t>
            </a:r>
            <a:br/>
            <a:r>
              <a:t>  FROM students s</a:t>
            </a:r>
            <a:br/>
            <a:r>
              <a:t>  JOIN marks m</a:t>
            </a:r>
            <a:br/>
            <a:r>
              <a:t>    ON s.student_id=m.student_id</a:t>
            </a:r>
            <a:br/>
            <a:r>
              <a:t>  GROUP BY s.name, s.city</a:t>
            </a:r>
            <a:br/>
            <a:r>
              <a:t>)</a:t>
            </a:r>
            <a:br/>
            <a:r>
              <a:t>SELECT *</a:t>
            </a:r>
            <a:br/>
            <a:r>
              <a:t>FROM student_performance</a:t>
            </a:r>
            <a:br/>
            <a:r>
              <a:t>WHERE average_marks &gt; 80</a:t>
            </a:r>
            <a:br/>
            <a:r>
              <a:t>ORDER BY total_marks DESC;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4251960"/>
            <a:ext cx="4069080" cy="1051560"/>
          </a:xfrm>
          <a:prstGeom prst="roundRect">
            <a:avLst/>
          </a:prstGeom>
          <a:solidFill>
            <a:srgbClr val="E4F4F4"/>
          </a:solidFill>
          <a:ln>
            <a:solidFill>
              <a:srgbClr val="CD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45552" y="44805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9AA0"/>
                </a:solidFill>
              </a:defRPr>
            </a:pPr>
            <a:r>
              <a:t>SQL SKILLS DEMONSTRATED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45552" y="47731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243A"/>
                </a:solidFill>
              </a:defRPr>
            </a:pPr>
            <a:r>
              <a:t>JOIN • GROUP BY • HAVING • CASE • CTE • RANK • LAG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